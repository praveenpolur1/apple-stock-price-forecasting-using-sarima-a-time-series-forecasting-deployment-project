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982" autoAdjust="0"/>
    <p:restoredTop sz="94660"/>
  </p:normalViewPr>
  <p:slideViewPr>
    <p:cSldViewPr snapToGrid="0">
      <p:cViewPr varScale="1">
        <p:scale>
          <a:sx n="64" d="100"/>
          <a:sy n="64" d="100"/>
        </p:scale>
        <p:origin x="-672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0BC70B-2748-2EF4-C9E8-9AA48BAF2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C659B7C-CB98-CA57-AA7A-916BE4EDD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B7B526-915C-1474-F560-7E39558F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F1921E1-CB9F-4A28-0E21-0495F825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CEC6D1-951C-D372-5236-5DBDC366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2235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2F39A0-9B3F-19A0-9DC6-DFF38DF0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71445C6-DD60-64CF-4C90-62A201BC4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7F87B1-BE5E-95BD-63A9-AA876066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5F8337-92BF-ACB4-9678-75B3C096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48AA69-4694-60F7-B244-7313198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1481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0B72B9-ED61-B746-7495-006BFB15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B0F62C2-1B48-9259-CFC5-919993798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6DCAED-D923-A44C-74A4-2CA38761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046A0DD-84E1-C7CD-7EF0-332AF753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33E7782-6183-2C00-C594-685318FE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6129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CEDD3B-A1EC-0627-04C2-3B798BD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FFD0CB1-D4CB-7FC6-51AC-4CF82E4B8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F70EBD4-7F25-9FF1-C67C-82959FE7E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F93FCFB-CE36-D140-42CD-D3F10D2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69F9F55-0381-7616-AE01-676C2B49C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8D18886-438C-0BFD-50AC-C11A7517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658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B645A3-05E6-339C-63A7-C68CB444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5B634CB-3EEC-3DAF-3C41-274D6837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F320189-B0D2-1403-0933-9A1624CE1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77E2CD8-8BCE-7B44-1AF9-62C15E22F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39FDB42-C8BB-A697-39E9-988092163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BC77585-D123-2423-20D4-C9805F53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F96A334-3CD5-F87B-7EBE-460989C5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A5D5787-AB28-7400-DBDA-BC65FD4D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1443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6A02C6-F471-4025-F0CF-C2FDD432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992CFF3-6849-6513-F2F9-9DA8B826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F95A957-B070-06E8-81EC-E4455359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B0F9BBF-F2A9-4ACC-5A3A-E96A5BC6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43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02E0F8F-66B4-4E62-8D43-CB29A692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654413-D1C7-5540-4B54-89D26527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B53EA6E-C809-10E9-5EC8-221D8AB3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87069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389E3-D05B-FE23-9745-1F5E0D97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98E35A-FA19-814B-C0C1-A3560616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F831647-2EB6-750D-5532-99C55ED1F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AFDE325-BC09-AD92-3F35-7853DD9E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375E7F6-46CA-6572-D32D-AFDDF0CA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5363F7A-A268-DE0F-2452-12F41E13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2612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37D062-AD08-DB0F-2F90-DDAE9E46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C9C2D96-997E-3F8C-D960-63AA02543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55BE4FC-3E66-890B-2BCF-9B3B6FF80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6E8F7E1-AEB8-E876-9681-ED43CBD1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1F3518C-6330-6255-9F53-8E767360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E92A4DA-C825-392C-ADA9-74078DF1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1287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D95BC0-5600-F62C-CC6F-5C18F13E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06F4050-DD7C-2C55-DFA6-C9B506350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61ED93-20BD-8500-945B-9F64EC009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F04DEAA-239F-580D-6E66-E90013F8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8D0EF5-5BA8-3A57-4655-BBE27BEA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4445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AEBC4E2-F223-FCF0-4729-788707AA3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DA681BB-5429-2EF2-4792-D9B5296AA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EA3A986-0A5B-6C61-2378-3E70841B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D452A8-B055-2425-657C-A6EC0619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5B67300-4E34-76B5-5CC8-48731104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0671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87CAC2C-2481-A3F3-A2DC-DEA8D7F9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2C29F37-BA6C-F647-2753-D01B34564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F2BC8E-8A5D-9445-CF73-6BEAD06F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1C80A-2A15-45B0-BAC3-4055F51B4C1A}" type="datetimeFigureOut">
              <a:rPr lang="en-IN" smtClean="0"/>
              <a:pPr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70E5F50-9D95-080D-2E81-480EE8AC5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3631555-8E8C-5389-7E18-63F198102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C71C4-B05B-49EB-B6E0-FC7A9349058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6049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7D2471-C628-8064-714A-8DFEFFEEA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04280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APPLE STOCK PRICE PREDICTION FOR NEXT 30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1F16720-E3E1-AA28-B35B-236504BE5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348" y="4829149"/>
            <a:ext cx="4300192" cy="1372868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2800" dirty="0"/>
              <a:t>     </a:t>
            </a:r>
            <a:r>
              <a:rPr lang="en-IN" sz="2800" dirty="0" smtClean="0"/>
              <a:t>  </a:t>
            </a:r>
            <a:r>
              <a:rPr lang="en-IN" sz="2800" b="1" u="sng" dirty="0" smtClean="0">
                <a:solidFill>
                  <a:srgbClr val="FF0000"/>
                </a:solidFill>
              </a:rPr>
              <a:t>PRESENTED BY</a:t>
            </a:r>
            <a:endParaRPr lang="en-IN" sz="2800" b="1" u="sng" dirty="0">
              <a:solidFill>
                <a:srgbClr val="FF0000"/>
              </a:solidFill>
            </a:endParaRPr>
          </a:p>
          <a:p>
            <a:pPr marL="342900" indent="-342900" algn="l">
              <a:lnSpc>
                <a:spcPct val="120000"/>
              </a:lnSpc>
            </a:pPr>
            <a:r>
              <a:rPr lang="en-IN" dirty="0" smtClean="0"/>
              <a:t>       </a:t>
            </a:r>
            <a:r>
              <a:rPr lang="en-IN" sz="26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POLURI PRAVEEN</a:t>
            </a:r>
            <a:endParaRPr lang="en-IN" sz="26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8" name="Picture 4" descr="Apple stock ahead of iPhone 17 launch: How will Apple stock move with the  iPhone 17 launch along with other products and upgrades? Here's what  analysts say - The Economic Times">
            <a:extLst>
              <a:ext uri="{FF2B5EF4-FFF2-40B4-BE49-F238E27FC236}">
                <a16:creationId xmlns="" xmlns:a16="http://schemas.microsoft.com/office/drawing/2014/main" id="{64172AB0-FA5D-6369-E944-769508D1F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848" y="2003897"/>
            <a:ext cx="6509424" cy="46611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6636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B70BDA-77B0-067E-3911-4A5A0859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214009"/>
            <a:ext cx="10617200" cy="1297291"/>
          </a:xfrm>
        </p:spPr>
        <p:txBody>
          <a:bodyPr>
            <a:normAutofit/>
          </a:bodyPr>
          <a:lstStyle/>
          <a:p>
            <a:r>
              <a:rPr lang="en-IN" sz="540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B96A2E-B7D4-CAD5-6E7D-5C726E0B1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690688"/>
            <a:ext cx="10617200" cy="432911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b="1" dirty="0"/>
              <a:t>Objective : </a:t>
            </a:r>
            <a:r>
              <a:rPr lang="en-US" dirty="0"/>
              <a:t>Predict Apple’s stock closing price for the next 30 days using historical data (2012–2019).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3200" b="1" dirty="0">
                <a:latin typeface="Aptos" panose="020B0004020202020204" pitchFamily="34" charset="0"/>
              </a:rPr>
              <a:t>Motivation : </a:t>
            </a:r>
            <a:r>
              <a:rPr lang="en-US" dirty="0"/>
              <a:t>Stock prices are volatile and influenced by trends and external events, requiring reliable short-term forecasting.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latin typeface="Aptos" panose="020B0004020202020204" pitchFamily="34" charset="0"/>
              </a:rPr>
              <a:t>Problem statement : </a:t>
            </a:r>
            <a:r>
              <a:rPr lang="en-US" dirty="0"/>
              <a:t>Stock price movements are difficult to predict using one method. Therefore, multiple models are tested to identify which gives the most accurate 30-day forecast.</a:t>
            </a: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928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0B11BC-790C-CC20-7BEF-41A7126D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7BF6DC-0882-96AA-F658-682676C05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999"/>
            <a:ext cx="10515600" cy="4144963"/>
          </a:xfrm>
        </p:spPr>
        <p:txBody>
          <a:bodyPr/>
          <a:lstStyle/>
          <a:p>
            <a:r>
              <a:rPr lang="en-US" b="1" dirty="0"/>
              <a:t>Data: </a:t>
            </a:r>
            <a:r>
              <a:rPr lang="en-US" dirty="0"/>
              <a:t>The dataset P625 DATASET.csv contains 2011 entries.</a:t>
            </a:r>
          </a:p>
          <a:p>
            <a:r>
              <a:rPr lang="en-US" b="1" dirty="0"/>
              <a:t>Time Period: </a:t>
            </a:r>
            <a:r>
              <a:rPr lang="en-US" dirty="0"/>
              <a:t>2011-2019</a:t>
            </a:r>
          </a:p>
          <a:p>
            <a:r>
              <a:rPr lang="en-US" b="1" dirty="0"/>
              <a:t>Features:</a:t>
            </a:r>
            <a:r>
              <a:rPr lang="en-US" dirty="0"/>
              <a:t> Date, Open, High, Low, Close, Adj Close, Volume.</a:t>
            </a:r>
          </a:p>
          <a:p>
            <a:r>
              <a:rPr lang="en-US" b="1" dirty="0"/>
              <a:t>Shape:</a:t>
            </a:r>
            <a:r>
              <a:rPr lang="en-US" dirty="0"/>
              <a:t> </a:t>
            </a:r>
            <a:r>
              <a:rPr lang="en-IN" dirty="0"/>
              <a:t>2011 rows × 7 columns</a:t>
            </a:r>
            <a:endParaRPr lang="en-US" dirty="0"/>
          </a:p>
          <a:p>
            <a:r>
              <a:rPr lang="en-US" b="1" dirty="0"/>
              <a:t>Target:</a:t>
            </a:r>
            <a:r>
              <a:rPr lang="en-US" dirty="0"/>
              <a:t> Next 30-Day Closing Price.</a:t>
            </a:r>
          </a:p>
          <a:p>
            <a:r>
              <a:rPr lang="en-US" b="1" dirty="0"/>
              <a:t>Data Quality:</a:t>
            </a:r>
            <a:r>
              <a:rPr lang="en-US" dirty="0"/>
              <a:t> Dataset contains no null or missing values.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7629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BCFF19-01D6-41B4-45AF-ECF22BD0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67200" cy="866775"/>
          </a:xfrm>
        </p:spPr>
        <p:txBody>
          <a:bodyPr>
            <a:normAutofit fontScale="90000"/>
          </a:bodyPr>
          <a:lstStyle/>
          <a:p>
            <a:r>
              <a:rPr lang="en-IN" sz="6600" dirty="0"/>
              <a:t>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1A4419-E419-38E3-5E09-54ECAC889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328058"/>
            <a:ext cx="5297194" cy="53403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800" b="1" dirty="0"/>
              <a:t>Rolling Mean Analysis:</a:t>
            </a:r>
          </a:p>
          <a:p>
            <a:r>
              <a:rPr lang="en-US" dirty="0"/>
              <a:t>Rolling mean is used to smooth short-term price fluctuations.</a:t>
            </a:r>
          </a:p>
          <a:p>
            <a:r>
              <a:rPr lang="en-US" dirty="0"/>
              <a:t>It highlights the overall trend and shows that the stock is trending upward over time.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b="1" dirty="0"/>
              <a:t>Daily Returns:</a:t>
            </a:r>
            <a:r>
              <a:rPr lang="en-US" sz="4000" dirty="0"/>
              <a:t> </a:t>
            </a:r>
            <a:r>
              <a:rPr lang="en-US" dirty="0"/>
              <a:t>Daily percentage changes fluctuate around zero, with large spikes showing high volatility.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000" b="1" dirty="0"/>
              <a:t>OHLC Price Trends (Open, High, Low, Close):</a:t>
            </a:r>
          </a:p>
          <a:p>
            <a:r>
              <a:rPr lang="en-US" dirty="0"/>
              <a:t>Stock prices fluctuate on each trading day.</a:t>
            </a:r>
          </a:p>
          <a:p>
            <a:r>
              <a:rPr lang="en-US" dirty="0"/>
              <a:t>Overall upward movement indicates long-term growth.</a:t>
            </a:r>
          </a:p>
          <a:p>
            <a:r>
              <a:rPr lang="en-US" dirty="0"/>
              <a:t>Sudden drops reflect market reactions and external events.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600"/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68F91CB-832B-35AE-1197-761CACDD3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307" y="189629"/>
            <a:ext cx="4803187" cy="2109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F22BE88-2682-8E0F-9AF3-DB053A371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06" y="2235200"/>
            <a:ext cx="4803188" cy="21090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0F38751-EA3F-F6AA-677D-EB59EBCCB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262" y="4425683"/>
            <a:ext cx="5476875" cy="22426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22815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2295F5-1938-0F64-EBDA-9DB340CC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AA6A39-4272-47E3-5FA7-37D2836D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143000"/>
            <a:ext cx="6531429" cy="4996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We analyzed key metrics using visual tools to understand price behavior.</a:t>
            </a:r>
          </a:p>
          <a:p>
            <a:r>
              <a:rPr lang="en-US" b="1" dirty="0"/>
              <a:t>Histogram:</a:t>
            </a:r>
            <a:r>
              <a:rPr lang="en-US" dirty="0"/>
              <a:t> Shows the frequency of prices within specific ranges.</a:t>
            </a:r>
          </a:p>
          <a:p>
            <a:r>
              <a:rPr lang="en-US" b="1" dirty="0"/>
              <a:t>Boxplot:</a:t>
            </a:r>
            <a:r>
              <a:rPr lang="en-US" dirty="0"/>
              <a:t> Highlights outliers and price variability.</a:t>
            </a:r>
          </a:p>
          <a:p>
            <a:r>
              <a:rPr lang="en-US" b="1" dirty="0"/>
              <a:t>Volatility:</a:t>
            </a:r>
            <a:r>
              <a:rPr lang="en-US" dirty="0"/>
              <a:t> Measures price fluctuations, indicating market uncertainty.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F0C93C8-A73F-32DF-EBD3-5E365AC13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682" y="2579376"/>
            <a:ext cx="5856147" cy="18809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B8C6CF6-E1B1-AE01-0E89-85B71D9E4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345" y="180777"/>
            <a:ext cx="4931229" cy="21857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7E40FAE-E1EB-3120-8ED5-26D1F70E7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340" y="4574691"/>
            <a:ext cx="6232748" cy="21857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06071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67C103-C78D-CD5F-E6DC-7A5A5D7E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00057" cy="1376589"/>
          </a:xfrm>
        </p:spPr>
        <p:txBody>
          <a:bodyPr/>
          <a:lstStyle/>
          <a:p>
            <a:r>
              <a:rPr lang="en-IN" dirty="0"/>
              <a:t>ACF AND PCEF CLOSING PRICE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5E81C831-504D-1176-59F3-60C329D21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3915" y="2496172"/>
            <a:ext cx="644434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ACF and PACF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closing prices to study time dependency.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middle straight line in ACF/PACF represents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limit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Bars crossing the limit indicate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correlation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past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22170E8-4172-C3EC-1D20-06C52C9F9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42" y="88153"/>
            <a:ext cx="4256315" cy="3303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5FD08F5-2F01-B328-C9E7-E59E75AD7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542" y="3797543"/>
            <a:ext cx="4456562" cy="306045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0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59CD64-262D-580A-28D0-BBB242DB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7751FC85-BF7C-8064-7423-861AE665C4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16248"/>
            <a:ext cx="866615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handled using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IQR 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MA-10 and MA-30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capture price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30-day volatility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measure market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removed missing values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257195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9BD97D-D587-EF00-B44D-811361D7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F16566-5908-E397-C71F-F0F39D7B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Performed </a:t>
            </a:r>
            <a:r>
              <a:rPr lang="en-US" b="1" dirty="0"/>
              <a:t>train–test splitting</a:t>
            </a:r>
            <a:r>
              <a:rPr lang="en-US" dirty="0"/>
              <a:t> to evaluate model performance.</a:t>
            </a:r>
          </a:p>
          <a:p>
            <a:endParaRPr lang="en-US" dirty="0"/>
          </a:p>
          <a:p>
            <a:r>
              <a:rPr lang="en-US" dirty="0"/>
              <a:t>Built </a:t>
            </a:r>
            <a:r>
              <a:rPr lang="en-US" b="1" dirty="0"/>
              <a:t>statistical time-series models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ARIMA</a:t>
            </a:r>
            <a:r>
              <a:rPr lang="en-US" dirty="0"/>
              <a:t> for trend-based forecasting</a:t>
            </a:r>
          </a:p>
          <a:p>
            <a:pPr lvl="1"/>
            <a:r>
              <a:rPr lang="en-US" b="1" dirty="0"/>
              <a:t>SARIMA</a:t>
            </a:r>
            <a:r>
              <a:rPr lang="en-US" dirty="0"/>
              <a:t> for seasonal patterns</a:t>
            </a:r>
          </a:p>
          <a:p>
            <a:r>
              <a:rPr lang="en-US" dirty="0"/>
              <a:t>Built </a:t>
            </a:r>
            <a:r>
              <a:rPr lang="en-US" b="1" dirty="0"/>
              <a:t>machine learning models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Random Forest</a:t>
            </a:r>
            <a:endParaRPr lang="en-US" dirty="0"/>
          </a:p>
          <a:p>
            <a:pPr lvl="1"/>
            <a:r>
              <a:rPr lang="en-US" b="1" dirty="0"/>
              <a:t>XG Boost</a:t>
            </a:r>
          </a:p>
          <a:p>
            <a:pPr lvl="1"/>
            <a:endParaRPr lang="en-US" dirty="0"/>
          </a:p>
          <a:p>
            <a:r>
              <a:rPr lang="en-US" dirty="0"/>
              <a:t>Models were trained on historical stock data and compared.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7668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728E86-5335-DCF7-71D9-6F4931B3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EVALUTION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="" xmlns:a16="http://schemas.microsoft.com/office/drawing/2014/main" id="{0C5DAC87-1F18-498A-B4DB-CD9F63FD93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532536571"/>
              </p:ext>
            </p:extLst>
          </p:nvPr>
        </p:nvGraphicFramePr>
        <p:xfrm>
          <a:off x="838200" y="3086893"/>
          <a:ext cx="10020301" cy="31614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72992">
                  <a:extLst>
                    <a:ext uri="{9D8B030D-6E8A-4147-A177-3AD203B41FA5}">
                      <a16:colId xmlns="" xmlns:a16="http://schemas.microsoft.com/office/drawing/2014/main" val="1923742968"/>
                    </a:ext>
                  </a:extLst>
                </a:gridCol>
                <a:gridCol w="2856408">
                  <a:extLst>
                    <a:ext uri="{9D8B030D-6E8A-4147-A177-3AD203B41FA5}">
                      <a16:colId xmlns="" xmlns:a16="http://schemas.microsoft.com/office/drawing/2014/main" val="1921434633"/>
                    </a:ext>
                  </a:extLst>
                </a:gridCol>
                <a:gridCol w="3390901">
                  <a:extLst>
                    <a:ext uri="{9D8B030D-6E8A-4147-A177-3AD203B41FA5}">
                      <a16:colId xmlns="" xmlns:a16="http://schemas.microsoft.com/office/drawing/2014/main" val="1456254492"/>
                    </a:ext>
                  </a:extLst>
                </a:gridCol>
              </a:tblGrid>
              <a:tr h="632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31738948"/>
                  </a:ext>
                </a:extLst>
              </a:tr>
              <a:tr h="632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084128903"/>
                  </a:ext>
                </a:extLst>
              </a:tr>
              <a:tr h="632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SARIMA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7.20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9.48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82756582"/>
                  </a:ext>
                </a:extLst>
              </a:tr>
              <a:tr h="632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11.86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15.21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711212128"/>
                  </a:ext>
                </a:extLst>
              </a:tr>
              <a:tr h="632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XG 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22.18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25.28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524625228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="" xmlns:a16="http://schemas.microsoft.com/office/drawing/2014/main" id="{48934230-3D72-4C70-B24F-5FD999DFC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6548"/>
            <a:ext cx="691086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evaluated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values indicate better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0500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833299-6345-91D3-0C9B-AA9E5A40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2E32B5-B016-C4C1-B7AC-959449D81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Models were evaluated using </a:t>
            </a:r>
            <a:r>
              <a:rPr lang="en-US" sz="2400" b="1" dirty="0"/>
              <a:t>MAE</a:t>
            </a:r>
            <a:r>
              <a:rPr lang="en-US" sz="2400" dirty="0"/>
              <a:t> and </a:t>
            </a:r>
            <a:r>
              <a:rPr lang="en-US" sz="2400" b="1" dirty="0"/>
              <a:t>RMSE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SARIMA performed best</a:t>
            </a:r>
            <a:r>
              <a:rPr lang="en-US" sz="2400" dirty="0"/>
              <a:t> with the lowest error values.</a:t>
            </a:r>
          </a:p>
          <a:p>
            <a:endParaRPr lang="en-US" sz="2400" dirty="0"/>
          </a:p>
          <a:p>
            <a:r>
              <a:rPr lang="en-US" sz="2400" dirty="0"/>
              <a:t>ARIMA showed moderate accuracy.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Random Forest and XG Boost performed weaker.</a:t>
            </a:r>
          </a:p>
          <a:p>
            <a:endParaRPr lang="en-US" sz="2400" dirty="0"/>
          </a:p>
          <a:p>
            <a:r>
              <a:rPr lang="en-US" sz="2400" b="1" dirty="0"/>
              <a:t>SARIMA was selected</a:t>
            </a:r>
            <a:r>
              <a:rPr lang="en-US" sz="2400" dirty="0"/>
              <a:t> for 30-day stock price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53174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5C0DE1-ABF4-D76F-5AA2-6CF897A5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EA4EEB6-A471-E987-CDC9-CEF2C7F96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8429"/>
            <a:ext cx="3831771" cy="5203371"/>
          </a:xfrm>
        </p:spPr>
        <p:txBody>
          <a:bodyPr>
            <a:normAutofit/>
          </a:bodyPr>
          <a:lstStyle/>
          <a:p>
            <a:r>
              <a:rPr lang="en-US" sz="2400" dirty="0"/>
              <a:t>Developed an interactive </a:t>
            </a:r>
            <a:r>
              <a:rPr lang="en-US" sz="2400" b="1" dirty="0" err="1"/>
              <a:t>Streamlit</a:t>
            </a:r>
            <a:r>
              <a:rPr lang="en-US" sz="2400" b="1" dirty="0"/>
              <a:t> web application</a:t>
            </a:r>
            <a:r>
              <a:rPr lang="en-US" sz="2400" dirty="0"/>
              <a:t>.</a:t>
            </a:r>
          </a:p>
          <a:p>
            <a:r>
              <a:rPr lang="en-US" sz="2400" dirty="0"/>
              <a:t>Users can select a </a:t>
            </a:r>
            <a:r>
              <a:rPr lang="en-US" sz="2400" b="1" dirty="0"/>
              <a:t>date range</a:t>
            </a:r>
            <a:r>
              <a:rPr lang="en-US" sz="2400" dirty="0"/>
              <a:t> for prediction.</a:t>
            </a:r>
          </a:p>
          <a:p>
            <a:r>
              <a:rPr lang="en-US" sz="2400" dirty="0"/>
              <a:t>The app displays </a:t>
            </a:r>
            <a:r>
              <a:rPr lang="en-US" sz="2400" b="1" dirty="0"/>
              <a:t>30-day stock price forecasts</a:t>
            </a:r>
            <a:r>
              <a:rPr lang="en-US" sz="2400" dirty="0"/>
              <a:t>.</a:t>
            </a:r>
          </a:p>
          <a:p>
            <a:r>
              <a:rPr lang="en-US" sz="2400" dirty="0"/>
              <a:t>Visualizes </a:t>
            </a:r>
            <a:r>
              <a:rPr lang="en-US" sz="2400" b="1" dirty="0"/>
              <a:t>historical prices and predicted trends</a:t>
            </a:r>
            <a:r>
              <a:rPr lang="en-US" sz="2400" dirty="0"/>
              <a:t>.</a:t>
            </a:r>
          </a:p>
          <a:p>
            <a:r>
              <a:rPr lang="en-US" sz="2400" dirty="0"/>
              <a:t>Enables easy and real-time analysis for users.</a:t>
            </a:r>
          </a:p>
          <a:p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="" xmlns:a16="http://schemas.microsoft.com/office/drawing/2014/main" id="{ABC7B6F0-B5A4-F949-23D8-48A341589D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04514" y="2209799"/>
            <a:ext cx="2079171" cy="20791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676511B-A9BB-4E5B-16EE-2DCBD84B2B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44" t="25810" r="2646" b="13548"/>
          <a:stretch>
            <a:fillRect/>
          </a:stretch>
        </p:blipFill>
        <p:spPr>
          <a:xfrm>
            <a:off x="5351297" y="1312542"/>
            <a:ext cx="3082643" cy="4348844"/>
          </a:xfrm>
          <a:prstGeom prst="rect">
            <a:avLst/>
          </a:prstGeom>
        </p:spPr>
      </p:pic>
      <p:sp>
        <p:nvSpPr>
          <p:cNvPr id="7" name="AutoShape 4">
            <a:extLst>
              <a:ext uri="{FF2B5EF4-FFF2-40B4-BE49-F238E27FC236}">
                <a16:creationId xmlns="" xmlns:a16="http://schemas.microsoft.com/office/drawing/2014/main" id="{BBC567D0-BA15-EEDA-2BB3-D2D8083CBC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9393F72-B05C-A3DB-978C-F3418B49D69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21381" r="3170" b="11996"/>
          <a:stretch>
            <a:fillRect/>
          </a:stretch>
        </p:blipFill>
        <p:spPr>
          <a:xfrm>
            <a:off x="9026243" y="1406053"/>
            <a:ext cx="2713579" cy="425533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0164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F3BEE6-3884-2C2A-0ABB-2EBC7E55C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9863"/>
            <a:ext cx="9144000" cy="2387600"/>
          </a:xfrm>
        </p:spPr>
        <p:txBody>
          <a:bodyPr/>
          <a:lstStyle/>
          <a:p>
            <a:r>
              <a:rPr lang="en-IN" b="1" dirty="0"/>
              <a:t>THANK YOU….</a:t>
            </a:r>
          </a:p>
        </p:txBody>
      </p:sp>
    </p:spTree>
    <p:extLst>
      <p:ext uri="{BB962C8B-B14F-4D97-AF65-F5344CB8AC3E}">
        <p14:creationId xmlns="" xmlns:p14="http://schemas.microsoft.com/office/powerpoint/2010/main" val="415418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458</Words>
  <Application>Microsoft Office PowerPoint</Application>
  <PresentationFormat>Custom</PresentationFormat>
  <Paragraphs>96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APPLE STOCK PRICE PREDICTION FOR NEXT 30 DAYS</vt:lpstr>
      <vt:lpstr>PROJECT OVERVIEW</vt:lpstr>
      <vt:lpstr>DATASET DESCRIPTION</vt:lpstr>
      <vt:lpstr>EDA</vt:lpstr>
      <vt:lpstr>EDA</vt:lpstr>
      <vt:lpstr>ACF AND PCEF CLOSING PRICE</vt:lpstr>
      <vt:lpstr>FEATURE ENGINEERING</vt:lpstr>
      <vt:lpstr>MODEL BUILDING</vt:lpstr>
      <vt:lpstr>MODEL EVALUTION</vt:lpstr>
      <vt:lpstr>FINAL MODEL SELECTION</vt:lpstr>
      <vt:lpstr>DEPLOYMENT</vt:lpstr>
      <vt:lpstr>THANK YOU….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STOCK PRICE PREDICTION FOR NEXT 30 DAYS</dc:title>
  <dc:creator>Krishna chandra</dc:creator>
  <cp:lastModifiedBy>HP</cp:lastModifiedBy>
  <cp:revision>4</cp:revision>
  <dcterms:created xsi:type="dcterms:W3CDTF">2026-01-14T04:05:14Z</dcterms:created>
  <dcterms:modified xsi:type="dcterms:W3CDTF">2026-02-17T10:42:02Z</dcterms:modified>
</cp:coreProperties>
</file>